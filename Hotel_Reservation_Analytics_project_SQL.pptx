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0" r:id="rId5"/>
    <p:sldId id="276" r:id="rId6"/>
    <p:sldId id="277" r:id="rId7"/>
    <p:sldId id="261" r:id="rId8"/>
    <p:sldId id="278" r:id="rId9"/>
    <p:sldId id="279" r:id="rId10"/>
    <p:sldId id="280" r:id="rId11"/>
    <p:sldId id="281" r:id="rId12"/>
    <p:sldId id="262" r:id="rId13"/>
    <p:sldId id="263" r:id="rId14"/>
    <p:sldId id="264" r:id="rId15"/>
    <p:sldId id="265" r:id="rId16"/>
    <p:sldId id="269" r:id="rId17"/>
    <p:sldId id="270" r:id="rId18"/>
    <p:sldId id="271" r:id="rId19"/>
    <p:sldId id="272" r:id="rId20"/>
    <p:sldId id="273" r:id="rId21"/>
    <p:sldId id="274" r:id="rId22"/>
    <p:sldId id="282" r:id="rId23"/>
    <p:sldId id="266" r:id="rId24"/>
    <p:sldId id="275" r:id="rId25"/>
    <p:sldId id="267" r:id="rId26"/>
    <p:sldId id="259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2724346" y="3752635"/>
            <a:ext cx="8180224" cy="541687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2800"/>
            </a:pPr>
            <a:r>
              <a:rPr b="1" dirty="0"/>
              <a:t>Hotel Reservation Operations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9768" y="420624"/>
            <a:ext cx="6099048" cy="6858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3000" b="1">
                <a:solidFill>
                  <a:srgbClr val="DC202A"/>
                </a:solidFill>
                <a:latin typeface="Arial"/>
              </a:defRPr>
            </a:pPr>
            <a:r>
              <a:t>About 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93" y="1347537"/>
            <a:ext cx="10090487" cy="2326791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  <a:latin typeface="Arial"/>
              </a:defRPr>
            </a:pPr>
            <a:r>
              <a:rPr lang="en-IN" b="1" dirty="0"/>
              <a:t>Gnan Naga Sai Vikas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  <a:latin typeface="Arial"/>
              </a:defRPr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  <a:latin typeface="Arial"/>
              </a:defRPr>
            </a:pPr>
            <a:r>
              <a:rPr lang="en-IN" b="1" dirty="0"/>
              <a:t>B.E(Electronics and Communication Engineering)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  <a:latin typeface="Arial"/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  <a:latin typeface="Arial"/>
              </a:defRPr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practical skills in SQL and data analytics and turn raw data into meaningful business decisions.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  <a:latin typeface="Arial"/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  <a:latin typeface="Arial"/>
              </a:defRPr>
            </a:pPr>
            <a:r>
              <a:rPr lang="en-IN" b="1" dirty="0"/>
              <a:t>LinkedIn: https://www.linkedin.com/in/vikassai7/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dirty="0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511625" y="1343818"/>
            <a:ext cx="10515600" cy="4720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r>
              <a:rPr dirty="0"/>
              <a:t>Introduction</a:t>
            </a:r>
          </a:p>
          <a:p>
            <a:r>
              <a:rPr dirty="0"/>
              <a:t>Why This Project</a:t>
            </a:r>
          </a:p>
          <a:p>
            <a:r>
              <a:rPr dirty="0"/>
              <a:t>Dataset Information</a:t>
            </a:r>
          </a:p>
          <a:p>
            <a:r>
              <a:rPr dirty="0"/>
              <a:t>Database &amp; Tables Overview</a:t>
            </a:r>
          </a:p>
          <a:p>
            <a:r>
              <a:rPr dirty="0"/>
              <a:t>Table Structure Explanation</a:t>
            </a:r>
          </a:p>
          <a:p>
            <a:r>
              <a:rPr dirty="0"/>
              <a:t>ER Diagram / Relationships</a:t>
            </a:r>
          </a:p>
          <a:p>
            <a:r>
              <a:rPr dirty="0"/>
              <a:t>Problem Statement</a:t>
            </a:r>
          </a:p>
          <a:p>
            <a:r>
              <a:rPr dirty="0"/>
              <a:t>SQL Queries</a:t>
            </a:r>
          </a:p>
          <a:p>
            <a:r>
              <a:rPr dirty="0"/>
              <a:t>Key Analysis Questions</a:t>
            </a:r>
          </a:p>
          <a:p>
            <a:r>
              <a:rPr dirty="0"/>
              <a:t>Insights (Business Understanding)</a:t>
            </a:r>
          </a:p>
          <a:p>
            <a:r>
              <a:rPr dirty="0"/>
              <a:t>Conclusion — Insights, Recommendations &amp; Challenges</a:t>
            </a:r>
          </a:p>
          <a:p>
            <a:r>
              <a:rPr dirty="0"/>
              <a:t>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113122" y="1272619"/>
            <a:ext cx="11087358" cy="499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2400" dirty="0"/>
              <a:t>This project analyzes </a:t>
            </a:r>
            <a:r>
              <a:rPr lang="en-IN" sz="2400" dirty="0" err="1"/>
              <a:t>staypoint</a:t>
            </a:r>
            <a:r>
              <a:rPr lang="en-IN" sz="2400" dirty="0"/>
              <a:t> hospitality </a:t>
            </a:r>
            <a:r>
              <a:rPr sz="2400" dirty="0"/>
              <a:t>hotel reservation data using MySQL.</a:t>
            </a:r>
          </a:p>
          <a:p>
            <a:endParaRPr sz="2400" dirty="0"/>
          </a:p>
          <a:p>
            <a:r>
              <a:rPr sz="2400" dirty="0"/>
              <a:t>The database models hotels, guests, rooms, bookings, stays and staff.</a:t>
            </a:r>
          </a:p>
          <a:p>
            <a:endParaRPr sz="2400" dirty="0"/>
          </a:p>
          <a:p>
            <a:r>
              <a:rPr sz="2400" dirty="0"/>
              <a:t>SQL is used to understand booking demand, guest </a:t>
            </a:r>
            <a:r>
              <a:rPr sz="2400" dirty="0" err="1"/>
              <a:t>behaviour</a:t>
            </a:r>
            <a:r>
              <a:rPr sz="2400" dirty="0"/>
              <a:t>, stay outcomes, room utilization and operational performance.</a:t>
            </a:r>
          </a:p>
          <a:p>
            <a:endParaRPr sz="2400" dirty="0"/>
          </a:p>
          <a:p>
            <a:r>
              <a:rPr sz="2400" dirty="0"/>
              <a:t>My role: Data Analyst — using SQL to turn reservation data into business answers.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Why This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3687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spcAft>
                <a:spcPts val="1000"/>
              </a:spcAft>
              <a:buNone/>
              <a:defRPr sz="1800"/>
            </a:pPr>
            <a:r>
              <a:rPr lang="en-US" sz="2400" dirty="0"/>
              <a:t>• Build practical SQL and data-analysis skills using a realistic banking scenario.</a:t>
            </a:r>
          </a:p>
          <a:p>
            <a:pPr marL="114300" indent="0">
              <a:spcAft>
                <a:spcPts val="1000"/>
              </a:spcAft>
              <a:buNone/>
              <a:defRPr sz="1800"/>
            </a:pPr>
            <a:r>
              <a:rPr lang="en-US" sz="2400" dirty="0"/>
              <a:t>• Understand customer, account, transaction and loan </a:t>
            </a:r>
            <a:r>
              <a:rPr lang="en-US" sz="2400" dirty="0" err="1"/>
              <a:t>behaviour</a:t>
            </a:r>
            <a:r>
              <a:rPr lang="en-US" sz="2400" dirty="0"/>
              <a:t> through relational data.</a:t>
            </a:r>
          </a:p>
          <a:p>
            <a:pPr marL="114300" indent="0">
              <a:spcAft>
                <a:spcPts val="1000"/>
              </a:spcAft>
              <a:buNone/>
              <a:defRPr sz="1800"/>
            </a:pPr>
            <a:r>
              <a:rPr lang="en-US" sz="2400" dirty="0"/>
              <a:t>• Practice multi-table JOINs, aggregation, HAVING, subqueries, UNION / UNION ALL and ROLLUP.</a:t>
            </a:r>
          </a:p>
          <a:p>
            <a:pPr marL="114300" indent="0">
              <a:spcAft>
                <a:spcPts val="1000"/>
              </a:spcAft>
              <a:buNone/>
              <a:defRPr sz="1800"/>
            </a:pPr>
            <a:r>
              <a:rPr lang="en-US" sz="2400" dirty="0"/>
              <a:t>• Produce business-oriented insights that can support banking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Dataset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38606"/>
            <a:ext cx="9875520" cy="526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800" dirty="0"/>
              <a:t>The project uses 6 CSV files representing </a:t>
            </a:r>
            <a:r>
              <a:rPr lang="en-IN" sz="1800" dirty="0"/>
              <a:t>Hotel R</a:t>
            </a:r>
            <a:r>
              <a:rPr sz="1800" dirty="0" err="1"/>
              <a:t>eservation</a:t>
            </a:r>
            <a:r>
              <a:rPr sz="1800" dirty="0"/>
              <a:t> and </a:t>
            </a:r>
            <a:r>
              <a:rPr lang="en-IN" sz="1800" dirty="0"/>
              <a:t>S</a:t>
            </a:r>
            <a:r>
              <a:rPr sz="1800" dirty="0" err="1"/>
              <a:t>tay</a:t>
            </a:r>
            <a:r>
              <a:rPr sz="1800" dirty="0"/>
              <a:t> </a:t>
            </a:r>
            <a:r>
              <a:rPr lang="en-IN" sz="1800" dirty="0"/>
              <a:t>R</a:t>
            </a:r>
            <a:r>
              <a:rPr sz="1800" dirty="0" err="1"/>
              <a:t>ecords</a:t>
            </a:r>
            <a:r>
              <a:rPr sz="1800" dirty="0"/>
              <a:t>.</a:t>
            </a:r>
          </a:p>
          <a:p>
            <a:endParaRPr sz="1800" dirty="0"/>
          </a:p>
          <a:p>
            <a:r>
              <a:rPr sz="1800" dirty="0"/>
              <a:t>• </a:t>
            </a:r>
            <a:r>
              <a:rPr sz="1800" b="1" dirty="0"/>
              <a:t>guests</a:t>
            </a:r>
            <a:r>
              <a:rPr sz="1800" dirty="0"/>
              <a:t>.— 350 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</a:t>
            </a:r>
            <a:r>
              <a:rPr sz="1800" b="1" dirty="0"/>
              <a:t>hotels</a:t>
            </a:r>
            <a:r>
              <a:rPr sz="1800" dirty="0"/>
              <a:t> — 25 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</a:t>
            </a:r>
            <a:r>
              <a:rPr sz="1800" b="1" dirty="0"/>
              <a:t>staff</a:t>
            </a:r>
            <a:r>
              <a:rPr sz="1800" dirty="0"/>
              <a:t> — 70</a:t>
            </a:r>
            <a:endParaRPr lang="en-IN" sz="1800" dirty="0"/>
          </a:p>
          <a:p>
            <a:r>
              <a:rPr sz="1800" dirty="0"/>
              <a:t> </a:t>
            </a:r>
            <a:endParaRPr lang="en-US" sz="1800" dirty="0"/>
          </a:p>
          <a:p>
            <a:r>
              <a:rPr lang="en-US" sz="1800" dirty="0"/>
              <a:t>• </a:t>
            </a:r>
            <a:r>
              <a:rPr lang="en-US" sz="1800" b="1" dirty="0"/>
              <a:t>rooms</a:t>
            </a:r>
            <a:r>
              <a:rPr lang="en-US" sz="1800" dirty="0"/>
              <a:t> — 600</a:t>
            </a:r>
          </a:p>
          <a:p>
            <a:endParaRPr lang="en-US" sz="1800" dirty="0"/>
          </a:p>
          <a:p>
            <a:r>
              <a:rPr sz="1800" dirty="0"/>
              <a:t>• </a:t>
            </a:r>
            <a:r>
              <a:rPr sz="1800" b="1" dirty="0"/>
              <a:t>bookings</a:t>
            </a:r>
            <a:r>
              <a:rPr sz="1800" dirty="0"/>
              <a:t> — 2,800 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</a:t>
            </a:r>
            <a:r>
              <a:rPr sz="1800" b="1" dirty="0"/>
              <a:t>stays</a:t>
            </a:r>
            <a:r>
              <a:rPr sz="1800" dirty="0"/>
              <a:t> — 3,200 </a:t>
            </a:r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r>
              <a:rPr lang="en-US" sz="1800" b="1" dirty="0"/>
              <a:t>The analysis focuses on completed hotel reservation on </a:t>
            </a:r>
            <a:r>
              <a:rPr lang="en-US" sz="1800" b="1" dirty="0" err="1"/>
              <a:t>guests,hotels,staff,rooms,bookings,stays</a:t>
            </a:r>
            <a:r>
              <a:rPr lang="en-US" sz="1800" b="1" dirty="0"/>
              <a:t> on how this is working and analysis.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b="1" dirty="0">
                <a:solidFill>
                  <a:srgbClr val="FF0000"/>
                </a:solidFill>
              </a:rPr>
              <a:t>Database &amp; Tables Overview</a:t>
            </a: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208472" y="1027522"/>
            <a:ext cx="10992008" cy="524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r>
              <a:rPr b="1" dirty="0"/>
              <a:t>Database</a:t>
            </a:r>
            <a:r>
              <a:rPr dirty="0"/>
              <a:t>: MySQL — </a:t>
            </a:r>
            <a:r>
              <a:rPr lang="en-IN" dirty="0"/>
              <a:t>H</a:t>
            </a:r>
            <a:r>
              <a:rPr dirty="0" err="1"/>
              <a:t>otel</a:t>
            </a:r>
            <a:r>
              <a:rPr lang="en-IN" dirty="0"/>
              <a:t> R</a:t>
            </a:r>
            <a:r>
              <a:rPr dirty="0" err="1"/>
              <a:t>eservation</a:t>
            </a:r>
            <a:r>
              <a:rPr lang="en-IN" dirty="0"/>
              <a:t> A</a:t>
            </a:r>
            <a:r>
              <a:rPr dirty="0" err="1"/>
              <a:t>nalytics</a:t>
            </a:r>
            <a:endParaRPr lang="en-IN" dirty="0"/>
          </a:p>
          <a:p>
            <a:endParaRPr dirty="0"/>
          </a:p>
          <a:p>
            <a:r>
              <a:rPr b="1" dirty="0"/>
              <a:t>Tables</a:t>
            </a:r>
            <a:r>
              <a:rPr dirty="0"/>
              <a:t>: hotels, guests, staff, rooms, bookings and stays.</a:t>
            </a:r>
          </a:p>
          <a:p>
            <a:endParaRPr dirty="0"/>
          </a:p>
          <a:p>
            <a:r>
              <a:rPr b="1" dirty="0"/>
              <a:t>Relationships</a:t>
            </a:r>
            <a:r>
              <a:rPr dirty="0"/>
              <a:t>:</a:t>
            </a:r>
          </a:p>
          <a:p>
            <a:r>
              <a:rPr dirty="0"/>
              <a:t>hotels → rooms</a:t>
            </a:r>
          </a:p>
          <a:p>
            <a:r>
              <a:rPr dirty="0"/>
              <a:t>guests → bookings</a:t>
            </a:r>
          </a:p>
          <a:p>
            <a:r>
              <a:rPr dirty="0"/>
              <a:t>hotels → bookings</a:t>
            </a:r>
          </a:p>
          <a:p>
            <a:r>
              <a:rPr dirty="0"/>
              <a:t>bookings → stays</a:t>
            </a:r>
          </a:p>
          <a:p>
            <a:r>
              <a:rPr dirty="0"/>
              <a:t>rooms → stays</a:t>
            </a:r>
          </a:p>
          <a:p>
            <a:r>
              <a:rPr dirty="0"/>
              <a:t>staff → stays</a:t>
            </a:r>
          </a:p>
          <a:p>
            <a:endParaRPr dirty="0"/>
          </a:p>
          <a:p>
            <a:r>
              <a:rPr lang="en-US" b="1" dirty="0"/>
              <a:t>SQL techniques: </a:t>
            </a:r>
            <a:r>
              <a:rPr lang="en-US" dirty="0"/>
              <a:t>SELECT, JOINs, GROUP BY, HAVING, subqueries, UNION / UNION ALL, ROLLUP and date-based analysis.</a:t>
            </a:r>
          </a:p>
          <a:p>
            <a:r>
              <a:rPr lang="en-US" b="1" dirty="0"/>
              <a:t>Dataset size:</a:t>
            </a:r>
            <a:r>
              <a:rPr lang="en-US" dirty="0"/>
              <a:t> 350 guests, 25 hotels, 70 staff, 600 rooms, 2,800 bookings , 3,200 stays.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Table Structure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526" y="1463040"/>
            <a:ext cx="10058400" cy="486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600" b="1" dirty="0"/>
              <a:t>Key fields used in the analysis:</a:t>
            </a:r>
            <a:endParaRPr lang="en-IN" sz="1600" b="1" dirty="0"/>
          </a:p>
          <a:p>
            <a:r>
              <a:rPr sz="1600" b="1" dirty="0"/>
              <a:t>hotels</a:t>
            </a:r>
            <a:r>
              <a:rPr sz="1600" dirty="0"/>
              <a:t> — </a:t>
            </a:r>
            <a:r>
              <a:rPr sz="1600" dirty="0" err="1"/>
              <a:t>hotel_id</a:t>
            </a:r>
            <a:r>
              <a:rPr sz="1600" dirty="0"/>
              <a:t>, </a:t>
            </a:r>
            <a:r>
              <a:rPr sz="1600" dirty="0" err="1"/>
              <a:t>hotel_name</a:t>
            </a:r>
            <a:r>
              <a:rPr sz="1600" dirty="0"/>
              <a:t>, city, </a:t>
            </a:r>
            <a:r>
              <a:rPr sz="1600" dirty="0" err="1"/>
              <a:t>star_rating</a:t>
            </a:r>
            <a:r>
              <a:rPr sz="1600" dirty="0"/>
              <a:t>, </a:t>
            </a:r>
            <a:r>
              <a:rPr sz="1600" dirty="0" err="1"/>
              <a:t>total_rooms</a:t>
            </a:r>
            <a:r>
              <a:rPr sz="1600" dirty="0"/>
              <a:t>, </a:t>
            </a:r>
            <a:r>
              <a:rPr sz="1600" dirty="0" err="1"/>
              <a:t>opened_date</a:t>
            </a:r>
            <a:endParaRPr lang="en-IN" sz="1600" dirty="0"/>
          </a:p>
          <a:p>
            <a:endParaRPr sz="1600" dirty="0"/>
          </a:p>
          <a:p>
            <a:r>
              <a:rPr sz="1600" b="1" dirty="0"/>
              <a:t>guests</a:t>
            </a:r>
            <a:r>
              <a:rPr sz="1600" dirty="0"/>
              <a:t> — </a:t>
            </a:r>
            <a:r>
              <a:rPr sz="1600" dirty="0" err="1"/>
              <a:t>guest_id</a:t>
            </a:r>
            <a:r>
              <a:rPr sz="1600" dirty="0"/>
              <a:t>, </a:t>
            </a:r>
            <a:r>
              <a:rPr sz="1600" dirty="0" err="1"/>
              <a:t>guest_name</a:t>
            </a:r>
            <a:r>
              <a:rPr sz="1600" dirty="0"/>
              <a:t>, city, </a:t>
            </a:r>
            <a:r>
              <a:rPr sz="1600" dirty="0" err="1"/>
              <a:t>guest_type</a:t>
            </a:r>
            <a:r>
              <a:rPr sz="1600" dirty="0"/>
              <a:t>, </a:t>
            </a:r>
            <a:r>
              <a:rPr sz="1600" dirty="0" err="1"/>
              <a:t>preferred_room_type</a:t>
            </a:r>
            <a:r>
              <a:rPr sz="1600" dirty="0"/>
              <a:t>, </a:t>
            </a:r>
            <a:r>
              <a:rPr sz="1600" dirty="0" err="1"/>
              <a:t>loyalty_tier</a:t>
            </a:r>
            <a:endParaRPr lang="en-IN" sz="1600" dirty="0"/>
          </a:p>
          <a:p>
            <a:endParaRPr sz="1600" dirty="0"/>
          </a:p>
          <a:p>
            <a:r>
              <a:rPr sz="1600" b="1" dirty="0"/>
              <a:t>staff</a:t>
            </a:r>
            <a:r>
              <a:rPr sz="1600" dirty="0"/>
              <a:t> — </a:t>
            </a:r>
            <a:r>
              <a:rPr sz="1600" dirty="0" err="1"/>
              <a:t>staff_id</a:t>
            </a:r>
            <a:r>
              <a:rPr sz="1600" dirty="0"/>
              <a:t>, </a:t>
            </a:r>
            <a:r>
              <a:rPr sz="1600" dirty="0" err="1"/>
              <a:t>staff_name</a:t>
            </a:r>
            <a:r>
              <a:rPr sz="1600" dirty="0"/>
              <a:t>, </a:t>
            </a:r>
            <a:r>
              <a:rPr sz="1600" dirty="0" err="1"/>
              <a:t>hire_date</a:t>
            </a:r>
            <a:r>
              <a:rPr sz="1600" dirty="0"/>
              <a:t>, rating, department, </a:t>
            </a:r>
            <a:r>
              <a:rPr sz="1600" dirty="0" err="1"/>
              <a:t>is_active</a:t>
            </a:r>
            <a:endParaRPr lang="en-IN" sz="1600" dirty="0"/>
          </a:p>
          <a:p>
            <a:endParaRPr sz="1600" dirty="0"/>
          </a:p>
          <a:p>
            <a:r>
              <a:rPr sz="1600" b="1" dirty="0"/>
              <a:t>rooms</a:t>
            </a:r>
            <a:r>
              <a:rPr sz="1600" dirty="0"/>
              <a:t> — </a:t>
            </a:r>
            <a:r>
              <a:rPr sz="1600" dirty="0" err="1"/>
              <a:t>room_id</a:t>
            </a:r>
            <a:r>
              <a:rPr sz="1600" dirty="0"/>
              <a:t>, </a:t>
            </a:r>
            <a:r>
              <a:rPr sz="1600" dirty="0" err="1"/>
              <a:t>hotel_id</a:t>
            </a:r>
            <a:r>
              <a:rPr sz="1600" dirty="0"/>
              <a:t>, </a:t>
            </a:r>
            <a:r>
              <a:rPr sz="1600" dirty="0" err="1"/>
              <a:t>room_type</a:t>
            </a:r>
            <a:r>
              <a:rPr sz="1600" dirty="0"/>
              <a:t>, </a:t>
            </a:r>
            <a:r>
              <a:rPr sz="1600" dirty="0" err="1"/>
              <a:t>floor_number</a:t>
            </a:r>
            <a:r>
              <a:rPr sz="1600" dirty="0"/>
              <a:t>, </a:t>
            </a:r>
            <a:r>
              <a:rPr sz="1600" dirty="0" err="1"/>
              <a:t>max_occupancy</a:t>
            </a:r>
            <a:r>
              <a:rPr sz="1600" dirty="0"/>
              <a:t>, </a:t>
            </a:r>
            <a:r>
              <a:rPr sz="1600" dirty="0" err="1"/>
              <a:t>price_per_night</a:t>
            </a:r>
            <a:endParaRPr lang="en-IN" sz="1600" dirty="0"/>
          </a:p>
          <a:p>
            <a:endParaRPr sz="1600" dirty="0"/>
          </a:p>
          <a:p>
            <a:r>
              <a:rPr sz="1600" b="1" dirty="0"/>
              <a:t>bookings</a:t>
            </a:r>
            <a:r>
              <a:rPr sz="1600" dirty="0"/>
              <a:t> — </a:t>
            </a:r>
            <a:r>
              <a:rPr sz="1600" dirty="0" err="1"/>
              <a:t>booking_id</a:t>
            </a:r>
            <a:r>
              <a:rPr sz="1600" dirty="0"/>
              <a:t>, </a:t>
            </a:r>
            <a:r>
              <a:rPr sz="1600" dirty="0" err="1"/>
              <a:t>guest_id</a:t>
            </a:r>
            <a:r>
              <a:rPr sz="1600" dirty="0"/>
              <a:t>, </a:t>
            </a:r>
            <a:r>
              <a:rPr sz="1600" dirty="0" err="1"/>
              <a:t>hotel_id</a:t>
            </a:r>
            <a:r>
              <a:rPr sz="1600" dirty="0"/>
              <a:t>, </a:t>
            </a:r>
            <a:r>
              <a:rPr sz="1600" dirty="0" err="1"/>
              <a:t>booking_date</a:t>
            </a:r>
            <a:r>
              <a:rPr sz="1600" dirty="0"/>
              <a:t>, </a:t>
            </a:r>
            <a:r>
              <a:rPr sz="1600" dirty="0" err="1"/>
              <a:t>room_type_requested</a:t>
            </a:r>
            <a:r>
              <a:rPr sz="1600" dirty="0"/>
              <a:t>, </a:t>
            </a:r>
            <a:r>
              <a:rPr sz="1600" dirty="0" err="1"/>
              <a:t>booking_channel</a:t>
            </a:r>
            <a:r>
              <a:rPr sz="1600" dirty="0"/>
              <a:t>, </a:t>
            </a:r>
            <a:r>
              <a:rPr sz="1600" dirty="0" err="1"/>
              <a:t>nights_booked</a:t>
            </a:r>
            <a:r>
              <a:rPr sz="1600" dirty="0"/>
              <a:t>, </a:t>
            </a:r>
            <a:r>
              <a:rPr sz="1600" dirty="0" err="1"/>
              <a:t>total_amount</a:t>
            </a:r>
            <a:r>
              <a:rPr lang="en-IN" sz="1600" dirty="0"/>
              <a:t>.</a:t>
            </a:r>
          </a:p>
          <a:p>
            <a:endParaRPr sz="1600" dirty="0"/>
          </a:p>
          <a:p>
            <a:r>
              <a:rPr sz="1600" b="1" dirty="0"/>
              <a:t>stays</a:t>
            </a:r>
            <a:r>
              <a:rPr sz="1600" dirty="0"/>
              <a:t> — </a:t>
            </a:r>
            <a:r>
              <a:rPr sz="1600" dirty="0" err="1"/>
              <a:t>stay_id</a:t>
            </a:r>
            <a:r>
              <a:rPr sz="1600" dirty="0"/>
              <a:t>, </a:t>
            </a:r>
            <a:r>
              <a:rPr sz="1600" dirty="0" err="1"/>
              <a:t>booking_id</a:t>
            </a:r>
            <a:r>
              <a:rPr sz="1600" dirty="0"/>
              <a:t>, </a:t>
            </a:r>
            <a:r>
              <a:rPr sz="1600" dirty="0" err="1"/>
              <a:t>room_id</a:t>
            </a:r>
            <a:r>
              <a:rPr sz="1600" dirty="0"/>
              <a:t>, </a:t>
            </a:r>
            <a:r>
              <a:rPr sz="1600" dirty="0" err="1"/>
              <a:t>staff_id</a:t>
            </a:r>
            <a:r>
              <a:rPr sz="1600" dirty="0"/>
              <a:t>, </a:t>
            </a:r>
            <a:r>
              <a:rPr sz="1600" dirty="0" err="1"/>
              <a:t>check_in_date</a:t>
            </a:r>
            <a:r>
              <a:rPr sz="1600" dirty="0"/>
              <a:t>, </a:t>
            </a:r>
            <a:r>
              <a:rPr sz="1600" dirty="0" err="1"/>
              <a:t>check_out_date</a:t>
            </a:r>
            <a:r>
              <a:rPr sz="1600" dirty="0"/>
              <a:t>, status, </a:t>
            </a:r>
            <a:r>
              <a:rPr sz="1600" dirty="0" err="1"/>
              <a:t>nights_stayed</a:t>
            </a:r>
            <a:r>
              <a:rPr sz="1600" dirty="0"/>
              <a:t>, </a:t>
            </a:r>
            <a:r>
              <a:rPr sz="1600" dirty="0" err="1"/>
              <a:t>service_requests</a:t>
            </a:r>
            <a:r>
              <a:rPr sz="1600" dirty="0"/>
              <a:t>, </a:t>
            </a:r>
            <a:r>
              <a:rPr sz="1600" dirty="0" err="1"/>
              <a:t>stay_duration_hrs</a:t>
            </a:r>
            <a:r>
              <a:rPr lang="en-IN" sz="1600" dirty="0"/>
              <a:t>.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US" sz="1600" dirty="0"/>
              <a:t>Primary and foreign keys are used to connect related records. The fields above are the fields explicitly used by the project queries.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438" y="-356134"/>
            <a:ext cx="10515600" cy="1511166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ER Diagram / Relationships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40" y="755278"/>
            <a:ext cx="8503920" cy="53474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51728"/>
            <a:ext cx="10078453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800" dirty="0"/>
              <a:t>Hotel reservation information is spread across multiple related tables, making it difficult to understand business performance from raw records alone.</a:t>
            </a:r>
          </a:p>
          <a:p>
            <a:endParaRPr sz="1800" dirty="0"/>
          </a:p>
          <a:p>
            <a:r>
              <a:rPr sz="1800" b="1" dirty="0"/>
              <a:t>The project addresses questions such as:</a:t>
            </a:r>
            <a:endParaRPr lang="en-IN" sz="1800" b="1" dirty="0"/>
          </a:p>
          <a:p>
            <a:endParaRPr sz="1800" b="1" dirty="0"/>
          </a:p>
          <a:p>
            <a:r>
              <a:rPr sz="1800" dirty="0"/>
              <a:t>• Where and how are bookings generated?</a:t>
            </a:r>
          </a:p>
          <a:p>
            <a:r>
              <a:rPr sz="1800" dirty="0"/>
              <a:t>• How do Individual and Corporate guests behave?</a:t>
            </a:r>
          </a:p>
          <a:p>
            <a:r>
              <a:rPr sz="1800" dirty="0"/>
              <a:t>• How well are bookings converted into completed stays?</a:t>
            </a:r>
          </a:p>
          <a:p>
            <a:r>
              <a:rPr sz="1800" dirty="0"/>
              <a:t>• How are staff and rooms being utilized?</a:t>
            </a:r>
          </a:p>
          <a:p>
            <a:r>
              <a:rPr sz="1800" dirty="0"/>
              <a:t>• Which hotels and channels show higher problem-stay rates?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072" y="-96253"/>
            <a:ext cx="10976728" cy="1786941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072" y="1366887"/>
            <a:ext cx="9837813" cy="5063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800" dirty="0"/>
              <a:t>The analysis uses business questions implemented in MySQL.</a:t>
            </a:r>
          </a:p>
          <a:p>
            <a:endParaRPr sz="1800" dirty="0"/>
          </a:p>
          <a:p>
            <a:r>
              <a:rPr sz="1800" b="1" dirty="0"/>
              <a:t>Core SQL concepts demonstrated:</a:t>
            </a:r>
            <a:endParaRPr lang="en-IN" sz="1800" b="1" dirty="0"/>
          </a:p>
          <a:p>
            <a:endParaRPr sz="1800" b="1" dirty="0"/>
          </a:p>
          <a:p>
            <a:r>
              <a:rPr sz="1800" dirty="0"/>
              <a:t>• SELECT, WHERE and basic exploration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INNER JOIN and LEFT JOIN across related tables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GROUP BY with COUNT, SUM and AVG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HAVING and ranking logic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Subqueries for percentage and average-based comparisons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DATE_FORMAT for monthly trend analysis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Derived tables for per-hotel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  <a:defRPr sz="2600" b="1">
                <a:solidFill>
                  <a:srgbClr val="DC202A"/>
                </a:solidFill>
                <a:latin typeface="Arial"/>
              </a:defRPr>
            </a:pPr>
            <a:r>
              <a:t>Query Results / Outputs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11085" y="1115568"/>
            <a:ext cx="5495355" cy="1591205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rPr dirty="0"/>
              <a:t>Total guests: 350   |   Total bookings: 2,800   |   Total stays: 3,200</a:t>
            </a:r>
          </a:p>
          <a:p>
            <a:r>
              <a:rPr dirty="0"/>
              <a:t>4 room types, 5 booking channels, 63 active staff (of 70)</a:t>
            </a:r>
          </a:p>
          <a:p>
            <a:r>
              <a:rPr dirty="0"/>
              <a:t>Total booking amount: ₹4,58,23,178.73   |   Avg nights booked: 3.32</a:t>
            </a:r>
          </a:p>
          <a:p>
            <a:r>
              <a:rPr dirty="0"/>
              <a:t>Stay outcomes: Checked-out 66.2%, No-show 16.9%, Cancelled 15.0%, In-progress 1.9%</a:t>
            </a:r>
          </a:p>
          <a:p>
            <a:r>
              <a:rPr dirty="0"/>
              <a:t>Highest problem-stay hotel: </a:t>
            </a:r>
            <a:r>
              <a:rPr dirty="0" err="1"/>
              <a:t>StayPoint</a:t>
            </a:r>
            <a:r>
              <a:rPr dirty="0"/>
              <a:t> Kochi Palace (~39.2% no-show/cancelled)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11085" y="2866826"/>
            <a:ext cx="5257800" cy="1874519"/>
          </a:xfrm>
          <a:prstGeom prst="rect">
            <a:avLst/>
          </a:prstGeom>
          <a:solidFill>
            <a:srgbClr val="F5F7F9"/>
          </a:solidFill>
          <a:ln w="8890">
            <a:solidFill>
              <a:srgbClr val="D2D6DA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Courier"/>
              </a:defRPr>
            </a:pPr>
            <a:r>
              <a:rPr dirty="0"/>
              <a:t>SQL QUERY</a:t>
            </a:r>
            <a:br>
              <a:rPr dirty="0"/>
            </a:br>
            <a:r>
              <a:rPr dirty="0"/>
              <a:t>SELECT </a:t>
            </a:r>
            <a:r>
              <a:rPr dirty="0" err="1"/>
              <a:t>transaction_type</a:t>
            </a:r>
            <a:r>
              <a:rPr dirty="0"/>
              <a:t>,</a:t>
            </a:r>
            <a:br>
              <a:rPr dirty="0"/>
            </a:br>
            <a:r>
              <a:rPr dirty="0"/>
              <a:t>       COUNT(*) AS </a:t>
            </a:r>
            <a:r>
              <a:rPr dirty="0" err="1"/>
              <a:t>transaction_count</a:t>
            </a:r>
            <a:r>
              <a:rPr dirty="0"/>
              <a:t>,</a:t>
            </a:r>
            <a:br>
              <a:rPr dirty="0"/>
            </a:br>
            <a:r>
              <a:rPr dirty="0"/>
              <a:t>       SUM(amount) AS </a:t>
            </a:r>
            <a:r>
              <a:rPr dirty="0" err="1"/>
              <a:t>total_amount</a:t>
            </a:r>
            <a:br>
              <a:rPr dirty="0"/>
            </a:br>
            <a:r>
              <a:rPr dirty="0"/>
              <a:t>FROM transactions</a:t>
            </a:r>
            <a:br>
              <a:rPr dirty="0"/>
            </a:br>
            <a:r>
              <a:rPr dirty="0"/>
              <a:t>WHERE status = 'Completed'</a:t>
            </a:r>
            <a:br>
              <a:rPr dirty="0"/>
            </a:br>
            <a:r>
              <a:rPr dirty="0"/>
              <a:t>GROUP BY </a:t>
            </a:r>
            <a:r>
              <a:rPr dirty="0" err="1"/>
              <a:t>transaction_type</a:t>
            </a:r>
            <a:br>
              <a:rPr dirty="0"/>
            </a:br>
            <a:r>
              <a:rPr dirty="0"/>
              <a:t>ORDER BY </a:t>
            </a:r>
            <a:r>
              <a:rPr dirty="0" err="1"/>
              <a:t>total_amount</a:t>
            </a:r>
            <a:r>
              <a:rPr dirty="0"/>
              <a:t> DESC;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893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OUTPUT</a:t>
            </a:r>
          </a:p>
        </p:txBody>
      </p:sp>
      <p:graphicFrame>
        <p:nvGraphicFramePr>
          <p:cNvPr id="114" name="Table 113"/>
          <p:cNvGraphicFramePr>
            <a:graphicFrameLocks noGrp="1"/>
          </p:cNvGraphicFramePr>
          <p:nvPr/>
        </p:nvGraphicFramePr>
        <p:xfrm>
          <a:off x="5989320" y="1517904"/>
          <a:ext cx="53492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transaction_type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Total_Amount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Credit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2,338,007.84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Interest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284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2,189,474.17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1,799,783.34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Debit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280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1,613,463.57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ATM Withdrawal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1,549,386.01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Fee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t>1,486,437.43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5" name="TextBox 114"/>
          <p:cNvSpPr txBox="1"/>
          <p:nvPr/>
        </p:nvSpPr>
        <p:spPr>
          <a:xfrm>
            <a:off x="311085" y="5164474"/>
            <a:ext cx="10744200" cy="678647"/>
          </a:xfrm>
          <a:prstGeom prst="rect">
            <a:avLst/>
          </a:prstGeom>
          <a:solidFill>
            <a:srgbClr val="FAFAFA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r>
              <a:rPr lang="en-US" b="1" dirty="0"/>
              <a:t>KEY INSIGHT</a:t>
            </a:r>
          </a:p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endParaRPr lang="en-US" b="1" dirty="0"/>
          </a:p>
          <a:p>
            <a:pPr marL="171450" indent="-171450">
              <a:buFont typeface="Wingdings" panose="05000000000000000000" pitchFamily="2" charset="2"/>
              <a:buChar char="§"/>
              <a:defRPr sz="1150" b="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Credit generates the </a:t>
            </a:r>
            <a:r>
              <a:rPr lang="en-IN" dirty="0"/>
              <a:t>highest </a:t>
            </a:r>
            <a:r>
              <a:rPr lang="en-US" dirty="0"/>
              <a:t>completed transaction amount (2,338,007.84). GROUP BY and aggregate functions allow category-level comparison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10"/>
          <p:cNvSpPr txBox="1"/>
          <p:nvPr/>
        </p:nvSpPr>
        <p:spPr>
          <a:xfrm>
            <a:off x="5029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1. Which hotels show the strongest booking volume?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2920" y="1561633"/>
            <a:ext cx="5257800" cy="1874519"/>
          </a:xfrm>
          <a:prstGeom prst="rect">
            <a:avLst/>
          </a:prstGeom>
          <a:solidFill>
            <a:srgbClr val="F5F7F9"/>
          </a:solidFill>
          <a:ln w="8890">
            <a:solidFill>
              <a:srgbClr val="D2D6DA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Courier"/>
              </a:defRPr>
            </a:pPr>
            <a:r>
              <a:rPr sz="850">
                <a:latin typeface="Courier New"/>
              </a:rPr>
              <a:t>SELECT h.hotel_name, COUNT(b.booking_id) AS total_bookings</a:t>
            </a:r>
          </a:p>
          <a:p>
            <a:r>
              <a:rPr sz="850">
                <a:latin typeface="Courier New"/>
              </a:rPr>
              <a:t>FROM hotels h LEFT JOIN bookings b ON b.hotel_id=h.hotel_id</a:t>
            </a:r>
          </a:p>
          <a:p>
            <a:r>
              <a:rPr sz="850">
                <a:latin typeface="Courier New"/>
              </a:rPr>
              <a:t>GROUP BY h.hotel_id, h.hotel_name</a:t>
            </a:r>
          </a:p>
          <a:p>
            <a:r>
              <a:rPr sz="850">
                <a:latin typeface="Courier New"/>
              </a:rPr>
              <a:t>ORDER BY total_bookings DESC;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893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OUTPUT</a:t>
            </a:r>
          </a:p>
        </p:txBody>
      </p:sp>
      <p:graphicFrame>
        <p:nvGraphicFramePr>
          <p:cNvPr id="114" name="Table 113"/>
          <p:cNvGraphicFramePr>
            <a:graphicFrameLocks noGrp="1"/>
          </p:cNvGraphicFramePr>
          <p:nvPr/>
        </p:nvGraphicFramePr>
        <p:xfrm>
          <a:off x="5989320" y="1517904"/>
          <a:ext cx="53492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800"/>
                        <a:t>Metric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Result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C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Hotels analyzed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Bookings / hotel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98–129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No single hotel dominates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5" name="TextBox 114"/>
          <p:cNvSpPr txBox="1"/>
          <p:nvPr/>
        </p:nvSpPr>
        <p:spPr>
          <a:xfrm>
            <a:off x="502920" y="4617720"/>
            <a:ext cx="10744200" cy="678647"/>
          </a:xfrm>
          <a:prstGeom prst="rect">
            <a:avLst/>
          </a:prstGeom>
          <a:solidFill>
            <a:srgbClr val="FAFAFA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r>
              <a:rPr dirty="0"/>
              <a:t>KEY INSIGHT</a:t>
            </a:r>
            <a:endParaRPr lang="en-IN" b="1" dirty="0"/>
          </a:p>
          <a:p>
            <a:endParaRPr lang="en-IN" b="1" dirty="0"/>
          </a:p>
          <a:p>
            <a:r>
              <a:rPr dirty="0"/>
              <a:t>Bookings are spread fairly evenly across all 25 hotels, so demand is diversified rather than concentrated in one property.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10"/>
          <p:cNvSpPr txBox="1"/>
          <p:nvPr/>
        </p:nvSpPr>
        <p:spPr>
          <a:xfrm>
            <a:off x="5029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2. Which booking channels are most important?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2920" y="1517904"/>
            <a:ext cx="5257800" cy="1874519"/>
          </a:xfrm>
          <a:prstGeom prst="rect">
            <a:avLst/>
          </a:prstGeom>
          <a:solidFill>
            <a:srgbClr val="F5F7F9"/>
          </a:solidFill>
          <a:ln w="8890">
            <a:solidFill>
              <a:srgbClr val="D2D6DA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Courier"/>
              </a:defRPr>
            </a:pPr>
            <a:r>
              <a:rPr sz="850">
                <a:latin typeface="Courier New"/>
              </a:rPr>
              <a:t>SELECT booking_channel, COUNT(*) AS total_bookings,</a:t>
            </a:r>
          </a:p>
          <a:p>
            <a:r>
              <a:rPr sz="850">
                <a:latin typeface="Courier New"/>
              </a:rPr>
              <a:t>SUM(total_amount) AS total_amount, AVG(total_amount) AS avg_amount</a:t>
            </a:r>
          </a:p>
          <a:p>
            <a:r>
              <a:rPr sz="850">
                <a:latin typeface="Courier New"/>
              </a:rPr>
              <a:t>FROM bookings GROUP BY booking_channel</a:t>
            </a:r>
          </a:p>
          <a:p>
            <a:r>
              <a:rPr sz="850">
                <a:latin typeface="Courier New"/>
              </a:rPr>
              <a:t>ORDER BY total_bookings DESC;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893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OUTPUT</a:t>
            </a:r>
          </a:p>
        </p:txBody>
      </p:sp>
      <p:graphicFrame>
        <p:nvGraphicFramePr>
          <p:cNvPr id="114" name="Table 113"/>
          <p:cNvGraphicFramePr>
            <a:graphicFrameLocks noGrp="1"/>
          </p:cNvGraphicFramePr>
          <p:nvPr/>
        </p:nvGraphicFramePr>
        <p:xfrm>
          <a:off x="5989320" y="1517904"/>
          <a:ext cx="5349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800"/>
                        <a:t>Channel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Bookings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Avg. value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Website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₹15,548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Mobile App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875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₹17,427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Other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5" name="TextBox 114"/>
          <p:cNvSpPr txBox="1"/>
          <p:nvPr/>
        </p:nvSpPr>
        <p:spPr>
          <a:xfrm>
            <a:off x="502920" y="4617720"/>
            <a:ext cx="10744200" cy="678647"/>
          </a:xfrm>
          <a:prstGeom prst="rect">
            <a:avLst/>
          </a:prstGeom>
          <a:solidFill>
            <a:srgbClr val="FAFAFA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r>
              <a:t>KEY INSIGHT</a:t>
            </a:r>
            <a:endParaRPr lang="en-IN" b="1" dirty="0"/>
          </a:p>
          <a:p>
            <a:endParaRPr lang="en-IN" b="1" dirty="0"/>
          </a:p>
          <a:p>
            <a:r>
              <a:t>Website leads booking volume, while the Mobile App has a higher average booking value.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10"/>
          <p:cNvSpPr txBox="1"/>
          <p:nvPr/>
        </p:nvSpPr>
        <p:spPr>
          <a:xfrm>
            <a:off x="502920" y="97078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3. Which requested room type is most in demand?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1354836"/>
            <a:ext cx="5257800" cy="1874519"/>
          </a:xfrm>
          <a:prstGeom prst="rect">
            <a:avLst/>
          </a:prstGeom>
          <a:solidFill>
            <a:srgbClr val="F5F7F9"/>
          </a:solidFill>
          <a:ln w="8890">
            <a:solidFill>
              <a:srgbClr val="D2D6DA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Courier"/>
              </a:defRPr>
            </a:pPr>
            <a:r>
              <a:rPr sz="850">
                <a:latin typeface="Courier New"/>
              </a:rPr>
              <a:t>SELECT room_type_requested, COUNT(*) AS total_bookings,</a:t>
            </a:r>
          </a:p>
          <a:p>
            <a:r>
              <a:rPr sz="850">
                <a:latin typeface="Courier New"/>
              </a:rPr>
              <a:t>SUM(total_amount) AS total_amount</a:t>
            </a:r>
          </a:p>
          <a:p>
            <a:r>
              <a:rPr sz="850">
                <a:latin typeface="Courier New"/>
              </a:rPr>
              <a:t>FROM bookings GROUP BY room_type_requested</a:t>
            </a:r>
          </a:p>
          <a:p>
            <a:r>
              <a:rPr sz="850">
                <a:latin typeface="Courier New"/>
              </a:rPr>
              <a:t>ORDER BY total_bookings DESC;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893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OUTPUT</a:t>
            </a:r>
          </a:p>
        </p:txBody>
      </p:sp>
      <p:graphicFrame>
        <p:nvGraphicFramePr>
          <p:cNvPr id="114" name="Table 113"/>
          <p:cNvGraphicFramePr>
            <a:graphicFrameLocks noGrp="1"/>
          </p:cNvGraphicFramePr>
          <p:nvPr/>
        </p:nvGraphicFramePr>
        <p:xfrm>
          <a:off x="5989320" y="1517904"/>
          <a:ext cx="534924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r>
                        <a:rPr sz="800"/>
                        <a:t>Room type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Bookings / value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C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r>
                        <a:rPr sz="800"/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1,259 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r>
                        <a:rPr sz="800"/>
                        <a:t>Suite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Highest avg value: ₹27,477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r>
                        <a:rPr sz="800"/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Avg value: ₹10,781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5" name="TextBox 114"/>
          <p:cNvSpPr txBox="1"/>
          <p:nvPr/>
        </p:nvSpPr>
        <p:spPr>
          <a:xfrm>
            <a:off x="502920" y="4617720"/>
            <a:ext cx="10744200" cy="678647"/>
          </a:xfrm>
          <a:prstGeom prst="rect">
            <a:avLst/>
          </a:prstGeom>
          <a:solidFill>
            <a:srgbClr val="FAFAFA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r>
              <a:t>KEY INSIGHT</a:t>
            </a:r>
            <a:endParaRPr lang="en-IN" b="1" dirty="0"/>
          </a:p>
          <a:p>
            <a:endParaRPr lang="en-IN" b="1" dirty="0"/>
          </a:p>
          <a:p>
            <a:r>
              <a:t>Standard rooms are the volume leader, while Suites generate much higher value per booking.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4. How do Individual and Corporate guests differ?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17904"/>
            <a:ext cx="5257800" cy="1874519"/>
          </a:xfrm>
          <a:prstGeom prst="rect">
            <a:avLst/>
          </a:prstGeom>
          <a:solidFill>
            <a:srgbClr val="F5F7F9"/>
          </a:solidFill>
          <a:ln w="8890">
            <a:solidFill>
              <a:srgbClr val="D2D6DA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Courier"/>
              </a:defRPr>
            </a:pPr>
            <a:r>
              <a:rPr sz="850">
                <a:latin typeface="Courier New"/>
              </a:rPr>
              <a:t>SELECT g.guest_type, COUNT(DISTINCT g.guest_id) AS guests,</a:t>
            </a:r>
          </a:p>
          <a:p>
            <a:r>
              <a:rPr sz="850">
                <a:latin typeface="Courier New"/>
              </a:rPr>
              <a:t>COUNT(b.booking_id) AS bookings, AVG(b.total_amount) AS avg_value</a:t>
            </a:r>
          </a:p>
          <a:p>
            <a:r>
              <a:rPr sz="850">
                <a:latin typeface="Courier New"/>
              </a:rPr>
              <a:t>FROM guests g JOIN bookings b ON b.guest_id=g.guest_id</a:t>
            </a:r>
          </a:p>
          <a:p>
            <a:r>
              <a:rPr sz="850">
                <a:latin typeface="Courier New"/>
              </a:rPr>
              <a:t>GROUP BY g.guest_type;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OUTPUT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517904"/>
          <a:ext cx="5349240" cy="272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r>
                        <a:rPr sz="800"/>
                        <a:t>Guest type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Guests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Bookings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Avg. value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r>
                        <a:rPr sz="800"/>
                        <a:t>Individual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1,903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~₹16K–16.5K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r>
                        <a:rPr sz="800"/>
                        <a:t>Corporate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117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897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~₹16K–16.5K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17720"/>
            <a:ext cx="10744200" cy="678647"/>
          </a:xfrm>
          <a:prstGeom prst="rect">
            <a:avLst/>
          </a:prstGeom>
          <a:solidFill>
            <a:srgbClr val="FAFAFA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r>
              <a:t>KEY INSIGHT</a:t>
            </a:r>
            <a:endParaRPr lang="en-IN" b="1" dirty="0"/>
          </a:p>
          <a:p>
            <a:endParaRPr lang="en-IN" b="1" dirty="0"/>
          </a:p>
          <a:p>
            <a:r>
              <a:t>Individual guests generate more than twice the bookings, but Corporate bookings have a similar ticket size.</a:t>
            </a:r>
          </a:p>
        </p:txBody>
      </p:sp>
    </p:spTree>
    <p:extLst>
      <p:ext uri="{BB962C8B-B14F-4D97-AF65-F5344CB8AC3E}">
        <p14:creationId xmlns:p14="http://schemas.microsoft.com/office/powerpoint/2010/main" val="2440658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5. What are the overall stay outcomes?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17904"/>
            <a:ext cx="5257800" cy="1874519"/>
          </a:xfrm>
          <a:prstGeom prst="rect">
            <a:avLst/>
          </a:prstGeom>
          <a:solidFill>
            <a:srgbClr val="F5F7F9"/>
          </a:solidFill>
          <a:ln w="8890">
            <a:solidFill>
              <a:srgbClr val="D2D6DA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Courier"/>
              </a:defRPr>
            </a:pPr>
            <a:r>
              <a:rPr sz="850">
                <a:latin typeface="Courier New"/>
              </a:rPr>
              <a:t>SELECT status, COUNT(*) AS total_stays,</a:t>
            </a:r>
          </a:p>
          <a:p>
            <a:r>
              <a:rPr sz="850">
                <a:latin typeface="Courier New"/>
              </a:rPr>
              <a:t>100*COUNT(*)/(SELECT COUNT(*) FROM stays) AS pct</a:t>
            </a:r>
          </a:p>
          <a:p>
            <a:r>
              <a:rPr sz="850">
                <a:latin typeface="Courier New"/>
              </a:rPr>
              <a:t>FROM stays GROUP BY status;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OUTPUT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517904"/>
          <a:ext cx="5349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800"/>
                        <a:t>Status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Stays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Share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C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Checked-out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2,117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66.2%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No-show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541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16.9%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In-progress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62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1.9%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17720"/>
            <a:ext cx="10744200" cy="678647"/>
          </a:xfrm>
          <a:prstGeom prst="rect">
            <a:avLst/>
          </a:prstGeom>
          <a:solidFill>
            <a:srgbClr val="FAFAFA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r>
              <a:t>KEY INSIGHT</a:t>
            </a:r>
            <a:endParaRPr lang="en-IN" b="1" dirty="0"/>
          </a:p>
          <a:p>
            <a:endParaRPr lang="en-IN" b="1" dirty="0"/>
          </a:p>
          <a:p>
            <a:r>
              <a:t>Only 66.2% of stays complete. No-shows and cancellations together account for roughly 1 in 3 stays.</a:t>
            </a:r>
          </a:p>
        </p:txBody>
      </p:sp>
    </p:spTree>
    <p:extLst>
      <p:ext uri="{BB962C8B-B14F-4D97-AF65-F5344CB8AC3E}">
        <p14:creationId xmlns:p14="http://schemas.microsoft.com/office/powerpoint/2010/main" val="3704946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6. Which hotel has the highest problem-stay rate?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17904"/>
            <a:ext cx="5257800" cy="1874519"/>
          </a:xfrm>
          <a:prstGeom prst="rect">
            <a:avLst/>
          </a:prstGeom>
          <a:solidFill>
            <a:srgbClr val="F5F7F9"/>
          </a:solidFill>
          <a:ln w="8890">
            <a:solidFill>
              <a:srgbClr val="D2D6DA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Courier"/>
              </a:defRPr>
            </a:pPr>
            <a:r>
              <a:rPr sz="850">
                <a:latin typeface="Courier New"/>
              </a:rPr>
              <a:t>SELECT h.hotel_name, COUNT(*) AS total_stays,</a:t>
            </a:r>
          </a:p>
          <a:p>
            <a:r>
              <a:rPr sz="850">
                <a:latin typeface="Courier New"/>
              </a:rPr>
              <a:t>SUM(CASE WHEN s.status IN ('No-show','Cancelled') THEN 1 ELSE 0 END) AS problem_stays</a:t>
            </a:r>
          </a:p>
          <a:p>
            <a:r>
              <a:rPr sz="850">
                <a:latin typeface="Courier New"/>
              </a:rPr>
              <a:t>FROM stays s JOIN bookings b ON b.booking_id=s.booking_id JOIN hotels h ON h.hotel_id=b.hotel_id</a:t>
            </a:r>
          </a:p>
          <a:p>
            <a:r>
              <a:rPr sz="850">
                <a:latin typeface="Courier New"/>
              </a:rPr>
              <a:t>GROUP BY h.hotel_name ORDER BY problem_stays/COUNT(*) DESC;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OUTPUT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517904"/>
          <a:ext cx="5349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800"/>
                        <a:t>Hotel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Problem-stay rate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C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StayPoint Kochi Palace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~39.2%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Overall no-show + cancelled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31.9%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17720"/>
            <a:ext cx="10744200" cy="678647"/>
          </a:xfrm>
          <a:prstGeom prst="rect">
            <a:avLst/>
          </a:prstGeom>
          <a:solidFill>
            <a:srgbClr val="FAFAFA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r>
              <a:t>KEY INSIGHT</a:t>
            </a:r>
            <a:endParaRPr lang="en-IN" b="1" dirty="0"/>
          </a:p>
          <a:p>
            <a:endParaRPr lang="en-IN" b="1" dirty="0"/>
          </a:p>
          <a:p>
            <a:r>
              <a:t>The worst hotel is well above the overall problem-stay rate, pointing to hotel-level operational factors.</a:t>
            </a:r>
          </a:p>
        </p:txBody>
      </p:sp>
    </p:spTree>
    <p:extLst>
      <p:ext uri="{BB962C8B-B14F-4D97-AF65-F5344CB8AC3E}">
        <p14:creationId xmlns:p14="http://schemas.microsoft.com/office/powerpoint/2010/main" val="3690090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7. Does staff workload track with staff ratings?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17904"/>
            <a:ext cx="5257800" cy="1874519"/>
          </a:xfrm>
          <a:prstGeom prst="rect">
            <a:avLst/>
          </a:prstGeom>
          <a:solidFill>
            <a:srgbClr val="F5F7F9"/>
          </a:solidFill>
          <a:ln w="8890">
            <a:solidFill>
              <a:srgbClr val="D2D6DA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Courier"/>
              </a:defRPr>
            </a:pPr>
            <a:r>
              <a:rPr sz="850">
                <a:latin typeface="Courier New"/>
              </a:rPr>
              <a:t>SELECT st.staff_name, st.rating, COUNT(s.stay_id) AS stays_handled</a:t>
            </a:r>
          </a:p>
          <a:p>
            <a:r>
              <a:rPr sz="850">
                <a:latin typeface="Courier New"/>
              </a:rPr>
              <a:t>FROM staff st LEFT JOIN stays s ON s.staff_id=st.staff_id</a:t>
            </a:r>
          </a:p>
          <a:p>
            <a:r>
              <a:rPr sz="850">
                <a:latin typeface="Courier New"/>
              </a:rPr>
              <a:t>GROUP BY st.staff_id, st.staff_name, st.rating</a:t>
            </a:r>
          </a:p>
          <a:p>
            <a:r>
              <a:rPr sz="850">
                <a:latin typeface="Courier New"/>
              </a:rPr>
              <a:t>ORDER BY stays_handled DESC;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OUTPUT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517904"/>
          <a:ext cx="53492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800"/>
                        <a:t>Measure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Result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C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Busiest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56–59 stays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Example high rating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4.82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Example lower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17720"/>
            <a:ext cx="10744200" cy="678647"/>
          </a:xfrm>
          <a:prstGeom prst="rect">
            <a:avLst/>
          </a:prstGeom>
          <a:solidFill>
            <a:srgbClr val="FAFAFA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r>
              <a:t>KEY INSIGHT</a:t>
            </a:r>
            <a:endParaRPr lang="en-IN" b="1" dirty="0"/>
          </a:p>
          <a:p>
            <a:endParaRPr lang="en-IN" b="1" dirty="0"/>
          </a:p>
          <a:p>
            <a:r>
              <a:t>Higher caseload does not clearly correspond to lower ratings; the busiest staff include both high- and lower-rated employees.</a:t>
            </a:r>
          </a:p>
        </p:txBody>
      </p:sp>
    </p:spTree>
    <p:extLst>
      <p:ext uri="{BB962C8B-B14F-4D97-AF65-F5344CB8AC3E}">
        <p14:creationId xmlns:p14="http://schemas.microsoft.com/office/powerpoint/2010/main" val="434600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8. Which room types drive volume versus premium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17904"/>
            <a:ext cx="5257800" cy="1874519"/>
          </a:xfrm>
          <a:prstGeom prst="rect">
            <a:avLst/>
          </a:prstGeom>
          <a:solidFill>
            <a:srgbClr val="F5F7F9"/>
          </a:solidFill>
          <a:ln w="8890">
            <a:solidFill>
              <a:srgbClr val="D2D6DA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Courier"/>
              </a:defRPr>
            </a:pPr>
            <a:r>
              <a:rPr sz="850">
                <a:latin typeface="Courier New"/>
              </a:rPr>
              <a:t>SELECT r.room_type, COUNT(s.stay_id) AS stays, AVG(r.price_per_night) AS avg_price</a:t>
            </a:r>
          </a:p>
          <a:p>
            <a:r>
              <a:rPr sz="850">
                <a:latin typeface="Courier New"/>
              </a:rPr>
              <a:t>FROM rooms r JOIN stays s ON s.room_id=r.room_id</a:t>
            </a:r>
          </a:p>
          <a:p>
            <a:r>
              <a:rPr sz="850">
                <a:latin typeface="Courier New"/>
              </a:rPr>
              <a:t>GROUP BY r.room_type;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OUTPUT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517904"/>
          <a:ext cx="5349240" cy="2200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800"/>
                        <a:t>Room type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Key result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C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1,440 stays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Suite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₹8,865 avg price/night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Business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Volume vs. premium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17720"/>
            <a:ext cx="10744200" cy="678647"/>
          </a:xfrm>
          <a:prstGeom prst="rect">
            <a:avLst/>
          </a:prstGeom>
          <a:solidFill>
            <a:srgbClr val="FAFAFA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r>
              <a:t>KEY INSIGHT</a:t>
            </a:r>
            <a:endParaRPr lang="en-IN" b="1" dirty="0"/>
          </a:p>
          <a:p>
            <a:endParaRPr lang="en-IN" b="1" dirty="0"/>
          </a:p>
          <a:p>
            <a:r>
              <a:t>Standard drives occupancy volume, while Suites represent the premium revenue lever.</a:t>
            </a:r>
          </a:p>
        </p:txBody>
      </p:sp>
    </p:spTree>
    <p:extLst>
      <p:ext uri="{BB962C8B-B14F-4D97-AF65-F5344CB8AC3E}">
        <p14:creationId xmlns:p14="http://schemas.microsoft.com/office/powerpoint/2010/main" val="3103081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9. Are service requests linked to no-shows or cancellations?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17904"/>
            <a:ext cx="5257800" cy="1874519"/>
          </a:xfrm>
          <a:prstGeom prst="rect">
            <a:avLst/>
          </a:prstGeom>
          <a:solidFill>
            <a:srgbClr val="F5F7F9"/>
          </a:solidFill>
          <a:ln w="8890">
            <a:solidFill>
              <a:srgbClr val="D2D6DA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950" b="0">
                <a:solidFill>
                  <a:srgbClr val="000000"/>
                </a:solidFill>
                <a:latin typeface="Courier"/>
              </a:defRPr>
            </a:pPr>
            <a:r>
              <a:rPr sz="850">
                <a:latin typeface="Courier New"/>
              </a:rPr>
              <a:t>SELECT s.status, AVG(s.service_requests) AS avg_service_requests</a:t>
            </a:r>
          </a:p>
          <a:p>
            <a:r>
              <a:rPr sz="850">
                <a:latin typeface="Courier New"/>
              </a:rPr>
              <a:t>FROM stays s GROUP BY s.status;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115568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1220" b="1">
                <a:solidFill>
                  <a:srgbClr val="DC202A"/>
                </a:solidFill>
                <a:latin typeface="Arial"/>
              </a:defRPr>
            </a:pPr>
            <a:r>
              <a:t>OUTPUT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517904"/>
          <a:ext cx="534924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800"/>
                        <a:t>Outcome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Observed pattern</a:t>
                      </a:r>
                    </a:p>
                  </a:txBody>
                  <a:tcPr>
                    <a:solidFill>
                      <a:srgbClr val="DC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No-show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Almost all: 0 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Cancelled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Almost all: 0 requests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800"/>
                        <a:t>Interpretation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Pre-arrival issue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17720"/>
            <a:ext cx="10744200" cy="678647"/>
          </a:xfrm>
          <a:prstGeom prst="rect">
            <a:avLst/>
          </a:prstGeom>
          <a:solidFill>
            <a:srgbClr val="FAFAFA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150" b="0">
                <a:solidFill>
                  <a:srgbClr val="232323"/>
                </a:solidFill>
                <a:latin typeface="Arial"/>
              </a:defRPr>
            </a:pPr>
            <a:r>
              <a:t>KEY INSIGHT</a:t>
            </a:r>
            <a:endParaRPr lang="en-IN" b="1" dirty="0"/>
          </a:p>
          <a:p>
            <a:endParaRPr lang="en-IN" b="1" dirty="0"/>
          </a:p>
          <a:p>
            <a:r>
              <a:t>Problem stays generally have no service requests, showing that the drop-off happens before in-stay service delivery.</a:t>
            </a:r>
          </a:p>
        </p:txBody>
      </p:sp>
    </p:spTree>
    <p:extLst>
      <p:ext uri="{BB962C8B-B14F-4D97-AF65-F5344CB8AC3E}">
        <p14:creationId xmlns:p14="http://schemas.microsoft.com/office/powerpoint/2010/main" val="1249038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231" y="301659"/>
            <a:ext cx="11061569" cy="1389030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Insights (Business Understanding)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927" y="1414021"/>
            <a:ext cx="1197204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800" dirty="0"/>
              <a:t>• Booking demand is evenly spread across the 25 hotels.</a:t>
            </a:r>
          </a:p>
          <a:p>
            <a:r>
              <a:rPr sz="1800" dirty="0"/>
              <a:t>• Website and Mobile App together drive ~66% of bookings; Mobile App has the higher average booking value</a:t>
            </a:r>
            <a:endParaRPr lang="en-IN" sz="1800" dirty="0"/>
          </a:p>
          <a:p>
            <a:r>
              <a:rPr sz="1800" dirty="0"/>
              <a:t>.</a:t>
            </a:r>
          </a:p>
          <a:p>
            <a:r>
              <a:rPr sz="1800" dirty="0"/>
              <a:t>• Individual guests generate more than twice the bookings of Corporate guests, but average booking value is similar.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About 1 in 3 stays never completes, with problem rates clustering by hotel.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Standard rooms drive occupancy volume; Suites drive premium value.</a:t>
            </a:r>
            <a:endParaRPr lang="en-IN" sz="1800" dirty="0"/>
          </a:p>
          <a:p>
            <a:endParaRPr sz="1800" dirty="0"/>
          </a:p>
          <a:p>
            <a:r>
              <a:rPr sz="1800" dirty="0"/>
              <a:t>• No-show and cancelled stays generally have zero service requests, indicating a pre-arrival problem.</a:t>
            </a:r>
            <a:endParaRPr lang="en-IN" sz="1800" dirty="0"/>
          </a:p>
          <a:p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95927" y="4778282"/>
            <a:ext cx="57915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FF0000"/>
                </a:solidFill>
              </a:rPr>
              <a:t>KEY INSIGHT</a:t>
            </a:r>
          </a:p>
          <a:p>
            <a:endParaRPr lang="en-IN" dirty="0"/>
          </a:p>
          <a:p>
            <a:r>
              <a:rPr lang="en-US" dirty="0"/>
              <a:t>Some bookings map to more than one stay record. The report flags this for validation as a possible re-booking pattern or data artifact.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8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b="1" dirty="0">
                <a:solidFill>
                  <a:srgbClr val="FF0000"/>
                </a:solidFill>
              </a:rPr>
              <a:t>Conclusion — Insights, Recommendations &amp; Challenges</a:t>
            </a: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504151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114300" indent="0">
              <a:buNone/>
            </a:pPr>
            <a:r>
              <a:rPr b="1" dirty="0"/>
              <a:t>Insights Summary:</a:t>
            </a:r>
          </a:p>
          <a:p>
            <a:r>
              <a:rPr dirty="0"/>
              <a:t>Booking demand is healthy and diversified, but ~34% of stays fail to complete and the problem is concentrated by hotel.</a:t>
            </a:r>
          </a:p>
          <a:p>
            <a:endParaRPr dirty="0"/>
          </a:p>
          <a:p>
            <a:pPr marL="114300" indent="0">
              <a:buNone/>
            </a:pPr>
            <a:r>
              <a:rPr b="1" dirty="0"/>
              <a:t>Recommendations:</a:t>
            </a:r>
          </a:p>
          <a:p>
            <a:r>
              <a:rPr dirty="0"/>
              <a:t>• Investigate high-problem hotels individually.</a:t>
            </a:r>
          </a:p>
          <a:p>
            <a:r>
              <a:rPr dirty="0"/>
              <a:t>• Treat No-show/Cancellation as a pre-arrival issue through confirmations, reminders and policy review.</a:t>
            </a:r>
          </a:p>
          <a:p>
            <a:r>
              <a:rPr dirty="0"/>
              <a:t>• Lean into Mobile App revenue potential.</a:t>
            </a:r>
          </a:p>
          <a:p>
            <a:r>
              <a:rPr dirty="0"/>
              <a:t>• Grow existing Corporate relationships.</a:t>
            </a:r>
          </a:p>
          <a:p>
            <a:r>
              <a:rPr dirty="0"/>
              <a:t>• Plan Standard capacity and Suite pricing as two different business levers.</a:t>
            </a:r>
          </a:p>
          <a:p>
            <a:endParaRPr dirty="0"/>
          </a:p>
          <a:p>
            <a:pPr marL="114300" indent="0">
              <a:buNone/>
            </a:pPr>
            <a:r>
              <a:rPr b="1" dirty="0"/>
              <a:t>Challenges Faced:</a:t>
            </a:r>
          </a:p>
          <a:p>
            <a:r>
              <a:rPr dirty="0"/>
              <a:t>• Mixed DD-MM-YYYY and YYYY-MM-DD date formats required STR_TO_DATE during import.</a:t>
            </a:r>
          </a:p>
          <a:p>
            <a:r>
              <a:rPr dirty="0"/>
              <a:t>• LOAD DATA LOCAL INFILE required both server-side and client-side local-</a:t>
            </a:r>
            <a:r>
              <a:rPr dirty="0" err="1"/>
              <a:t>infile</a:t>
            </a:r>
            <a:r>
              <a:rPr dirty="0"/>
              <a:t> settings.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9768" y="32004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defRPr sz="3000" b="1">
                <a:solidFill>
                  <a:srgbClr val="DC202A"/>
                </a:solidFill>
                <a:latin typeface="Arial"/>
              </a:defRPr>
            </a:pPr>
            <a: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5303520" cy="1024128"/>
          </a:xfrm>
          <a:prstGeom prst="rect">
            <a:avLst/>
          </a:prstGeom>
          <a:solidFill>
            <a:srgbClr val="F5F7F9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010" b="0">
                <a:solidFill>
                  <a:srgbClr val="232323"/>
                </a:solidFill>
                <a:latin typeface="Arial"/>
              </a:defRPr>
            </a:pPr>
            <a:r>
              <a:t>Q1. What is the objective of this project?</a:t>
            </a:r>
          </a:p>
          <a:p>
            <a:r>
              <a:t>To analyze hotel reservations using MySQL and produce business insights on booking demand, guest behaviour, stay outcomes and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78992"/>
            <a:ext cx="5303520" cy="1024128"/>
          </a:xfrm>
          <a:prstGeom prst="rect">
            <a:avLst/>
          </a:prstGeom>
          <a:solidFill>
            <a:srgbClr val="F5F7F9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010" b="0">
                <a:solidFill>
                  <a:srgbClr val="232323"/>
                </a:solidFill>
                <a:latin typeface="Arial"/>
              </a:defRPr>
            </a:pPr>
            <a:r>
              <a:t>Q2. Why are foreign keys important?</a:t>
            </a:r>
          </a:p>
          <a:p>
            <a:r>
              <a:t>They maintain referential integrity between hotels, guests, rooms, bookings, stays and staff.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40863"/>
            <a:ext cx="5303520" cy="1024128"/>
          </a:xfrm>
          <a:prstGeom prst="rect">
            <a:avLst/>
          </a:prstGeom>
          <a:solidFill>
            <a:srgbClr val="F5F7F9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010" b="0">
                <a:solidFill>
                  <a:srgbClr val="232323"/>
                </a:solidFill>
                <a:latin typeface="Arial"/>
              </a:defRPr>
            </a:pPr>
            <a:r>
              <a:t>Q3. Why did you use JOINs?</a:t>
            </a:r>
          </a:p>
          <a:p>
            <a:r>
              <a:t>The required business information is distributed across related tables, so JOINs connect the records needed for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40863"/>
            <a:ext cx="5303520" cy="1024128"/>
          </a:xfrm>
          <a:prstGeom prst="rect">
            <a:avLst/>
          </a:prstGeom>
          <a:solidFill>
            <a:srgbClr val="F5F7F9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010" b="0">
                <a:solidFill>
                  <a:srgbClr val="232323"/>
                </a:solidFill>
                <a:latin typeface="Arial"/>
              </a:defRPr>
            </a:pPr>
            <a:r>
              <a:t>Q4. Why use GROUP BY and HAVING?</a:t>
            </a:r>
          </a:p>
          <a:p>
            <a:r>
              <a:t>GROUP BY creates analysis groups; HAVING filters grouped results after aggregation.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02735"/>
            <a:ext cx="5303520" cy="1024128"/>
          </a:xfrm>
          <a:prstGeom prst="rect">
            <a:avLst/>
          </a:prstGeom>
          <a:solidFill>
            <a:srgbClr val="F5F7F9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010" b="0">
                <a:solidFill>
                  <a:srgbClr val="232323"/>
                </a:solidFill>
                <a:latin typeface="Arial"/>
              </a:defRPr>
            </a:pPr>
            <a:r>
              <a:t>Q5. Why use subqueries?</a:t>
            </a:r>
          </a:p>
          <a:p>
            <a:r>
              <a:t>Subqueries help calculate benchmarks such as overall averages or percentages before the outer query compares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602735"/>
            <a:ext cx="5303520" cy="1024128"/>
          </a:xfrm>
          <a:prstGeom prst="rect">
            <a:avLst/>
          </a:prstGeom>
          <a:solidFill>
            <a:srgbClr val="F5F7F9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010" b="0">
                <a:solidFill>
                  <a:srgbClr val="232323"/>
                </a:solidFill>
                <a:latin typeface="Arial"/>
              </a:defRPr>
            </a:pPr>
            <a:r>
              <a:t>Q6. What is your strongest business insight?</a:t>
            </a:r>
          </a:p>
          <a:p>
            <a:r>
              <a:t>About one-third of stays fail to complete, and the problem varies more by hotel than by booking channel.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64607"/>
            <a:ext cx="5303520" cy="1024128"/>
          </a:xfrm>
          <a:prstGeom prst="rect">
            <a:avLst/>
          </a:prstGeom>
          <a:solidFill>
            <a:srgbClr val="F5F7F9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010" b="0">
                <a:solidFill>
                  <a:srgbClr val="232323"/>
                </a:solidFill>
                <a:latin typeface="Arial"/>
              </a:defRPr>
            </a:pPr>
            <a:r>
              <a:t>Q7. Which channel has the highest average booking value?</a:t>
            </a:r>
          </a:p>
          <a:p>
            <a:r>
              <a:t>The Mobile App, at about ₹17,427 per booking, higher than the Website at about ₹15,548.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864607"/>
            <a:ext cx="5303520" cy="1024128"/>
          </a:xfrm>
          <a:prstGeom prst="rect">
            <a:avLst/>
          </a:prstGeom>
          <a:solidFill>
            <a:srgbClr val="F5F7F9"/>
          </a:solidFill>
          <a:ln w="8890">
            <a:solidFill>
              <a:srgbClr val="DCDCDC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>
              <a:defRPr sz="1010" b="0">
                <a:solidFill>
                  <a:srgbClr val="232323"/>
                </a:solidFill>
                <a:latin typeface="Arial"/>
              </a:defRPr>
            </a:pPr>
            <a:r>
              <a:t>Q8. What was the main challenge?</a:t>
            </a:r>
          </a:p>
          <a:p>
            <a:r>
              <a:t>Handling mixed date formats and correctly connecting multiple tables without creating incorrect joins or orphaned records.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8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  <a:defRPr sz="2600" b="1">
                <a:solidFill>
                  <a:srgbClr val="DC202A"/>
                </a:solidFill>
                <a:latin typeface="Arial"/>
              </a:defRPr>
            </a:pPr>
            <a:r>
              <a:t>My Experience &amp; Challenges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040383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31800">
              <a:buSzPts val="2000"/>
              <a:defRPr sz="1700" b="0">
                <a:solidFill>
                  <a:srgbClr val="232323"/>
                </a:solidFill>
                <a:latin typeface="Arial"/>
              </a:defRPr>
            </a:pPr>
            <a:r>
              <a:rPr lang="en-US" b="1" dirty="0"/>
              <a:t>Multi-table joins: </a:t>
            </a:r>
            <a:r>
              <a:rPr lang="en-US" dirty="0"/>
              <a:t>connecting customers → accounts → transactions and loans → loan payments required careful key matching.</a:t>
            </a:r>
          </a:p>
          <a:p>
            <a:pPr lvl="0" indent="-431800">
              <a:buSzPts val="2000"/>
              <a:defRPr sz="1700" b="0">
                <a:solidFill>
                  <a:srgbClr val="232323"/>
                </a:solidFill>
                <a:latin typeface="Arial"/>
              </a:defRPr>
            </a:pPr>
            <a:r>
              <a:rPr lang="en-US" b="1" dirty="0"/>
              <a:t>Aggregation logic: </a:t>
            </a:r>
            <a:r>
              <a:rPr lang="en-US" dirty="0"/>
              <a:t>GROUP BY and HAVING needed careful selection of grouped columns and measures.</a:t>
            </a:r>
          </a:p>
          <a:p>
            <a:pPr lvl="0" indent="-431800">
              <a:buSzPts val="2000"/>
              <a:defRPr sz="1700" b="0">
                <a:solidFill>
                  <a:srgbClr val="232323"/>
                </a:solidFill>
                <a:latin typeface="Arial"/>
              </a:defRPr>
            </a:pPr>
            <a:r>
              <a:rPr lang="en-US" b="1" dirty="0"/>
              <a:t>Advanced SQL: </a:t>
            </a:r>
            <a:r>
              <a:rPr lang="en-US" dirty="0"/>
              <a:t>understanding subqueries and ROLLUP took practice to apply correctly to real banking questions.</a:t>
            </a:r>
          </a:p>
          <a:p>
            <a:pPr lvl="0" indent="-431800">
              <a:buSzPts val="2000"/>
              <a:defRPr sz="1700" b="0">
                <a:solidFill>
                  <a:srgbClr val="232323"/>
                </a:solidFill>
                <a:latin typeface="Arial"/>
              </a:defRPr>
            </a:pPr>
            <a:r>
              <a:rPr lang="en-US" b="1" dirty="0"/>
              <a:t>Data validation: </a:t>
            </a:r>
            <a:r>
              <a:rPr lang="en-US" dirty="0"/>
              <a:t>imported CSV row counts and sample records were checked against the project documentation.</a:t>
            </a:r>
          </a:p>
          <a:p>
            <a:pPr lvl="0" indent="-431800">
              <a:buSzPts val="2000"/>
              <a:defRPr sz="1700" b="0">
                <a:solidFill>
                  <a:srgbClr val="232323"/>
                </a:solidFill>
                <a:latin typeface="Arial"/>
              </a:defRPr>
            </a:pPr>
            <a:r>
              <a:rPr lang="en-US" b="1" dirty="0"/>
              <a:t>Outcome:</a:t>
            </a:r>
            <a:r>
              <a:rPr lang="en-US" dirty="0"/>
              <a:t> the project strengthened SQL fundamentals and business-oriented analytical thinking for Data Analyst interviews.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914400" y="59436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3200" b="1">
                <a:solidFill>
                  <a:srgbClr val="DC202A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2381</Words>
  <Application>Microsoft Office PowerPoint</Application>
  <PresentationFormat>Widescreen</PresentationFormat>
  <Paragraphs>359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Wingdings</vt:lpstr>
      <vt:lpstr>Courier New</vt:lpstr>
      <vt:lpstr>Times New Roman</vt:lpstr>
      <vt:lpstr>Calibri</vt:lpstr>
      <vt:lpstr>Office Theme</vt:lpstr>
      <vt:lpstr>PowerPoint Presentation</vt:lpstr>
      <vt:lpstr>PowerPoint Presentation</vt:lpstr>
      <vt:lpstr>Agenda</vt:lpstr>
      <vt:lpstr>Introduction</vt:lpstr>
      <vt:lpstr>Why This Project</vt:lpstr>
      <vt:lpstr>Dataset Information</vt:lpstr>
      <vt:lpstr>Database &amp; Tables Overview</vt:lpstr>
      <vt:lpstr>Table Structure Explanation</vt:lpstr>
      <vt:lpstr>ER Diagram / Relationships</vt:lpstr>
      <vt:lpstr>Problem Statement</vt:lpstr>
      <vt:lpstr>SQL Queries</vt:lpstr>
      <vt:lpstr>Query Results / Outputs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 (Business Understanding)</vt:lpstr>
      <vt:lpstr>Conclusion — Insights, Recommendations &amp; Challenges</vt:lpstr>
      <vt:lpstr>PowerPoint Presentation</vt:lpstr>
      <vt:lpstr>My Experience &amp; Challenges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Sai Vikas</cp:lastModifiedBy>
  <cp:revision>11</cp:revision>
  <dcterms:created xsi:type="dcterms:W3CDTF">2021-02-16T05:19:01Z</dcterms:created>
  <dcterms:modified xsi:type="dcterms:W3CDTF">2026-08-26T12:01:01Z</dcterms:modified>
</cp:coreProperties>
</file>